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00000"/>
                </a:solidFill>
                <a:latin typeface="Arial"/>
              </a:rPr>
              <a:t>Автоматты тесттер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Соңғы жергілікті жүгіру</c:v>
                </c:pt>
              </c:strCache>
            </c:strRef>
          </c:tx>
          <c:spPr>
            <a:solidFill>
              <a:srgbClr val="0E74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E2E</c:v>
                  </c:pt>
                  <c:pt idx="1">
                    <c:v>Дерекқор</c:v>
                  </c:pt>
                  <c:pt idx="2">
                    <c:v>Unit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131</c:v>
                </c:pt>
                <c:pt idx="1">
                  <c:v>85</c:v>
                </c:pt>
                <c:pt idx="2">
                  <c:v>72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Статикалық санау</c:v>
                </c:pt>
              </c:strCache>
            </c:strRef>
          </c:tx>
          <c:spPr>
            <a:solidFill>
              <a:srgbClr val="F2B70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E2E</c:v>
                  </c:pt>
                  <c:pt idx="1">
                    <c:v>Дерекқор</c:v>
                  </c:pt>
                  <c:pt idx="2">
                    <c:v>Unit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134</c:v>
                </c:pt>
                <c:pt idx="1">
                  <c:v>136</c:v>
                </c:pt>
                <c:pt idx="2">
                  <c:v>51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Ашылу сөзі (20 сек): QazaqCode - мектептерге арналған қазақ тілді бағдарламалау оқыту платформасы. Біз ашық айтамыз: бұл пилотқа дейінгі өнім, нақты мектепте әлі сыналмаған, клиент пен табыс жоқ. Бұл дек - нені жасағанымыз, нені дәлелдемегенімізді көрсету. Сұрақ: 'Неге ашық айтасыздар?' - себебі due-diligence кезінде бәрібір тексеріледі, бізге сенім маңызды.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Мұнда сан жоқ - әдейі. Біз мұғалімдер мен мектептер арасында сауалнама жүргізген жоқпыз, сондықтан '%' не 'сағат' айтпаймыз. Бұл сапалық гипотеза, пилотта өлшейміз (мұғалімнің тексеру уақыты). Сұрақ: 'Мәселе қаншалықты үлкен?' - жауап: білмейміз, пилот соны өлшеуі керек. Сұрақ: 'Бәсекелестер?' - зерттелмеген, FAQ-та ашық жазылған.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Ағын: мұғалім тапсырма жасайды (7 түрі), оқушы орындайды, тест түрлері автоматты бағаланады, нәтиже аналитика мен Excel/PDF есепке түседі. Маңызды шектеу: код тапсырмасын сервердегі sandbox-та автоматты тексеру ЖАСАЛМАҒАН - қазір мұғалім қолмен бағалайды. Сұрақ: 'Код автоматты тексеріле ме?' - тест түрлері иә, код орындауды сервердегі sandbox әлі жоқ (docs/SANDBOX.md).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Барлығы репода бар және тесттермен қамтылған (сандар 7-слайдта). 'Көмекші' - ЖАСАНДЫ ИНТЕЛЛЕКТ ЕМЕС: ережелі кеңесші, алдын ала жазылған қазақша кеңестер базасы, сыртқы сервиске сұраныс жібермейді (docs/AI-TUTOR.md). Скриншот қойылмаған: нақты мектепте көрсетілген нұсқа жоқ, демо дерек 'ДЕМО' деп белгіленеді. Сұрақ: 'Бұл LLM ба?' - жоқ, ережелі.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Негізгі идея: деректер оқшаулауы қолданба кодында емес, PostgreSQL-де (RLS). Оқу тек RLS арқылы, жазу тек SECURITY DEFINER функциялар арқылы. e2e/security.spec.ts автоматты тексереді: барлық public кестеде RLS бар, PUBLIC execute жоқ, search_path бекітілген. ТЕХНИКАЛЫҚ ШЕКТЕУ: Supabase Auth нақты жобада сыналмаған; Docker image құрылмаған; тәуелсіз пентест жоқ. Rate limit жадта (көп данада Redis керек).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Негізгі хабар: біз MVP-ден асқан прототипті жасадық, бірақ нақты мектепте сыналмаған. Пайдаланушы, табыс, төленген клиент жоқ. Инвестор сұрайтын тартылымды алу жолы - келесі слайдтардағы пилот. Демо дерек тек 'ДЕМО' белгісімен.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Барлық сан репо мен тесттен: scripts/dataroom.mjs --json. Жолдар: src 10 119 жол, тест коды 6 034 жол. Диаграмма статикалық санау (test()/it() шақырулары), циклмен жасалған тесттер бір рет есептелген, сондықтан соңғы жергілікті жүгіру саны (131 e2e, 85 db, 72 unit) көп. Сұрақ: 'CI-да жасыл ма?' - нәтижесін GitHub Actions-та қарап растау керек, бұл деректе дәлелденбеген. Сұрақ: 'Тәуелсіз аудит?' - жоқ, тек ішкі аудит (20 мәселе түзетілген).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Деректер бөлмесі node scripts/dataroom.mjs арқылы бір командамен жасалады: FACTS (коммит, жолдар, тесттер), SBOM және лицензия есебі (GPL/AGPL ескертулері бөлек), npm audit қорытындысы, тәуекелдер тізімі. Құпия (.env, кілт) ешқашан кірмейді - тест бар. Лицензия есебінде LGPL (sharp-libvips, платформалық бинарлар) және қос лицензиялы jszip бөлек белгіленеді, оларды заңгер қарауы керек.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Бұл жоспар, нәтиже емес. Әр қадамның өлшенетін нәтижесі бар. Инвестиция туралы әңгіме 2-5 қадамнан кейін мағыналы болады, өйткені сонда нақты метрика болады. Мерзімдер пилот серіктестің табылуына тәуелді; нақты күн айтпаймыз.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Бүкіл слайд - гипотеза. Баға белгіленбеген, себебі нарықтық дәлел жоқ. Қаржылық модель шаблоны (docs/QazaqCode-financial-model.xlsx) бар, бірақ барлық болжамы бос: сіз өз гипотезаңызды енгізе аласыз. Сұрақ: 'Баға қанша?' - белгіленбеген, пилоттан кейін шығынмен және төлеуге дайындықпен есептеледі. Сұрақ: 'LTV/CAC?' - толтырылмаған.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Нарық көлемін айтпаймыз: зерттелмеген. Қазақстан мектептеріндегі сатып алу тәртібі (тендер, мемлекеттік бағдарламалар) және бәсекелестер зерттелмеген. Бірінші қадам - сенімді бір-үш серіктес мектеп. Өлшейтін метрикалар алдын ала жазылған, нәтиже оң болмаса да ашық жариялаймыз.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Ең маңыздысы - авторлық құқық: репоның коммиттері 'Claude' атынан, код пен контенттің көп бөлігін ИИ жасаған; охрана мен иелік мәртебесін заңгер анықтауы керек (licensing/LEGAL-REVIEW.md §1, AUTHORSHIP.md). Екіншісі - бір адамға тәуелділік. Үшіншісі - кәмелетсіздер деректері бойынша ҚР заңы. Коммерциялық код қазір ашық репода - сатуға дейін жеке репоға көшіру керек. Мұның бәрі docs/INVESTOR.md §6 және деректер бөлмесіндегі RISKS.md-де.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Ашық айтамыз: команда - бір адам (Sagid Mustafa). Код пен тесттердің көп бөлігі Claude (Anthropic) ИИ-ассистентімен, негізін қалаушының тапсырмалары мен тексеруі бойынша жасалған; git log-та коммиттер 'Claude' атынан. Бұл IP мәртебесі тұрғысынан тәуекел (12-слайд) және бір адамға тәуелділік. Ұсыныс: пилот табысты болса, бірінші жалдау - қолдау/сату және техникалық серіктес. Қаржыландыруды сомасыз категориямен ғана талқылаймыз.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Сома жоқ, себебі шығын мен баға расталмаған. Категориялар басымдық тәртібімен. Келесі қадам инвесторға: пилот серіктес табуға көмек не интро, немесе пилот нәтижесіне дейін күту. Біз қаржыны пилот нәтижесінсіз сұрамаймыз деп уәде бермейміз, бірақ мағыналы әңгіме пилоттан кейін екенін ашық айтамыз.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22960" y="15544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Qazaq</a:t>
            </a:r>
            <a:pPr indent="0" marL="0">
              <a:buNone/>
            </a:pPr>
            <a:r>
              <a:rPr lang="en-US" sz="60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822960" y="274320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Мектептерге арналған бағдарламалауды оқыту және тапсырмаларды автоматты тексеру платформасы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4023360"/>
            <a:ext cx="3566160" cy="347472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402336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Сатысы: пилотқа дейінгі өнім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" y="4663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Инвестор материалы  |  коммит 84918e110  |  2026-10-19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Нарық көлемі, клиент, табыс, баға: жоқ немесе гипотеза. Инвестициялық ұсыныс емес.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Проблема: мұғалімнің қолмен тексеру жүктемесі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326880" y="64465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QazaqCode  | 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Пилотқа дейінгі өнім. Бизнес-сандар - гипотеза/толтырылмаған.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737360"/>
            <a:ext cx="3566160" cy="2651760"/>
          </a:xfrm>
          <a:prstGeom prst="roundRect">
            <a:avLst>
              <a:gd name="adj" fmla="val 2759"/>
            </a:avLst>
          </a:prstGeom>
          <a:solidFill>
            <a:srgbClr val="F4F6F8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184708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Қолмен тексеру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31520" y="228600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Бағдарламалау тапсырмалары мен тест жұмыстарын мұғалім қолмен тексереді; сынып көбейген сайын уақыт көп кетеді.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297680" y="1737360"/>
            <a:ext cx="3566160" cy="2651760"/>
          </a:xfrm>
          <a:prstGeom prst="roundRect">
            <a:avLst>
              <a:gd name="adj" fmla="val 2759"/>
            </a:avLst>
          </a:prstGeom>
          <a:solidFill>
            <a:srgbClr val="F4F6F8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0560" y="184708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Көрінбейтін нәтиже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480560" y="228600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Сынып пен оқушы прогресі бір жерде жиналмаса, әкімшіге жалпы көрініс жоқ.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046720" y="1737360"/>
            <a:ext cx="3566160" cy="2651760"/>
          </a:xfrm>
          <a:prstGeom prst="roundRect">
            <a:avLst>
              <a:gd name="adj" fmla="val 2759"/>
            </a:avLst>
          </a:prstGeom>
          <a:solidFill>
            <a:srgbClr val="F4F6F8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0" y="184708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Қазақ тіліндегі орта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229600" y="228600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Қазақша интерфейс пен тапсырмалары бар оқу ортасына қажеттілік - біздің гипотеза, нарық зерттелмеген.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48640" y="4754880"/>
            <a:ext cx="2926080" cy="347472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475488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Сапалық сипаттама: сан жоқ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48640" y="5212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Пилотта өлшейміз: мұғалімнің тексеру уақыты, оқушының тапсырма орындау үлесі. Қазір бұл деректер жоқ.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ШЕШІМ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Шешім: тапсырма беруден есепке дейінгі бір орта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326880" y="64465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QazaqCode  |  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Пилотқа дейінгі өнім. Бизнес-сандар - гипотеза/толтырылмаған.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40080" y="2011680"/>
            <a:ext cx="822960" cy="82296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2011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548640" y="2971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Мұғалім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48640" y="33832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тапсырма / курс жасайды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880360" y="2240280"/>
            <a:ext cx="457200" cy="365760"/>
          </a:xfrm>
          <a:prstGeom prst="rightArrow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520440" y="2011680"/>
            <a:ext cx="822960" cy="82296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520440" y="2011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3429000" y="2971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Оқушы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3429000" y="33832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орындайды, жауап жібереді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760720" y="2240280"/>
            <a:ext cx="457200" cy="365760"/>
          </a:xfrm>
          <a:prstGeom prst="rightArrow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00800" y="2011680"/>
            <a:ext cx="822960" cy="82296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0" y="2011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6309360" y="2971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Автоматты тест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6309360" y="33832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 түрлері бағаланады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8641080" y="2240280"/>
            <a:ext cx="457200" cy="365760"/>
          </a:xfrm>
          <a:prstGeom prst="rightArrow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281160" y="2011680"/>
            <a:ext cx="822960" cy="82296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281160" y="2011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5" name="Text 22"/>
          <p:cNvSpPr/>
          <p:nvPr/>
        </p:nvSpPr>
        <p:spPr>
          <a:xfrm>
            <a:off x="9189720" y="2971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Аналитика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9189720" y="33832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сынып, оқушы, Excel/PDF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548640" y="448056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EF3F2"/>
          </a:solidFill>
          <a:ln w="12700">
            <a:solidFill>
              <a:srgbClr val="FDA29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31520" y="45902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Ашық шектеу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731520" y="50292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 тапсырмасын серверде автоматты тексеру (sandbox) жасалмаған: қазір мұғалім қолмен бағалайды.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ӨНІМ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Өнім: нақты бар функциялар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326880" y="64465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QazaqCode  |  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Пилотқа дейінгі өнім. Бизнес-сандар - гипотеза/толтырылмаған.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73736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184708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рөл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31520" y="228600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ADMIN, мектеп әкімшісі, мұғалім, оқушы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337560" y="173736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520440" y="184708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тапсырма түрі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520440" y="228600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автоматты тест бағалау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126480" y="173736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09360" y="184708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конструкторы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309360" y="228600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сабақ, тапсырма, оқушы кабинеті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915400" y="173736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098280" y="184708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Аналитика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9098280" y="228600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және PDF есеп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48640" y="374904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31520" y="385876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Лицензия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731520" y="429768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/ PRO / ENTERPRISE лимиттері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3337560" y="374904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520440" y="385876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3520440" y="429768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мектептің өз брендімен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126480" y="374904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309360" y="385876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Көмекші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6309360" y="429768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ережелі кеңесші, LLM емес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8915400" y="374904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098280" y="385876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 сұрауы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9098280" y="429768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мектеп өтінім беті және әкімші воронкасы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Қазақша интерфейс. Скриншот жоқ: нақты мектепте көрсетілген нұсқа әлі жоқ.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СӘУЛЕТ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Қауіпсіздік дерекқор деңгейінде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326880" y="64465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QazaqCode  |  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Пилотқа дейінгі өнім. Бизнес-сандар - гипотеза/толтырылмаған.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201168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201168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Браузер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қазақша UI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566160" y="201168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0" y="201168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+ TS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nonce-CSP, zod, rate limit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858000" y="1554480"/>
            <a:ext cx="2377440" cy="1005840"/>
          </a:xfrm>
          <a:prstGeom prst="roundRect">
            <a:avLst>
              <a:gd name="adj" fmla="val 727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949440" y="155448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withUser: оқу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сүзгісі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858000" y="2834640"/>
            <a:ext cx="2377440" cy="1005840"/>
          </a:xfrm>
          <a:prstGeom prst="roundRect">
            <a:avLst>
              <a:gd name="adj" fmla="val 727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49440" y="28346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RPC: жазу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DEFINER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9692640" y="201168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784080" y="201168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RLS, 14 миграция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3017520" y="2606040"/>
            <a:ext cx="457200" cy="274320"/>
          </a:xfrm>
          <a:prstGeom prst="rightArrow">
            <a:avLst/>
          </a:prstGeom>
          <a:solidFill>
            <a:srgbClr val="5B6676"/>
          </a:solidFill>
          <a:ln w="12700">
            <a:solidFill>
              <a:srgbClr val="5B667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309360" y="2606040"/>
            <a:ext cx="457200" cy="274320"/>
          </a:xfrm>
          <a:prstGeom prst="rightArrow">
            <a:avLst/>
          </a:prstGeom>
          <a:solidFill>
            <a:srgbClr val="5B6676"/>
          </a:solidFill>
          <a:ln w="12700">
            <a:solidFill>
              <a:srgbClr val="5B667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235440" y="2057400"/>
            <a:ext cx="457200" cy="274320"/>
          </a:xfrm>
          <a:prstGeom prst="rightArrow">
            <a:avLst/>
          </a:prstGeom>
          <a:solidFill>
            <a:srgbClr val="5B6676"/>
          </a:solidFill>
          <a:ln w="12700">
            <a:solidFill>
              <a:srgbClr val="5B667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235440" y="3337560"/>
            <a:ext cx="457200" cy="274320"/>
          </a:xfrm>
          <a:prstGeom prst="rightArrow">
            <a:avLst/>
          </a:prstGeom>
          <a:solidFill>
            <a:srgbClr val="5B6676"/>
          </a:solidFill>
          <a:ln w="12700">
            <a:solidFill>
              <a:srgbClr val="5B667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48640" y="429768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E0F2F6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31520" y="440740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Тексерілген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731520" y="484632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Ішкі аудит: 20 мәселе табылып түзетілген. Автоматты e2e: RLS, PUBLIC execute, search_path.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217920" y="429768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FEF3F2"/>
          </a:solidFill>
          <a:ln w="12700">
            <a:solidFill>
              <a:srgbClr val="FDA29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00800" y="440740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Сыналмаған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6400800" y="484632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Тәуелсіз пентест, нақты Supabase, Docker image, жүктеме тесті.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ҚАЗІРГІ КҮЙ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Сатысы: өнім бар, тартылым жоқ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326880" y="64465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QazaqCode  |  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Пилотқа дейінгі өнім. Бизнес-сандар - гипотеза/толтырылмаған.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005840" y="2468880"/>
            <a:ext cx="10058400" cy="0"/>
          </a:xfrm>
          <a:prstGeom prst="line">
            <a:avLst/>
          </a:prstGeom>
          <a:noFill/>
          <a:ln w="38100">
            <a:solidFill>
              <a:srgbClr val="E3E8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2194560"/>
            <a:ext cx="548640" cy="548640"/>
          </a:xfrm>
          <a:prstGeom prst="ellipse">
            <a:avLst/>
          </a:prstGeom>
          <a:solidFill>
            <a:srgbClr val="15803D"/>
          </a:solidFill>
          <a:ln w="25400">
            <a:solidFill>
              <a:srgbClr val="15803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274320" y="28803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Прототип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063240" y="2194560"/>
            <a:ext cx="548640" cy="548640"/>
          </a:xfrm>
          <a:prstGeom prst="ellipse">
            <a:avLst/>
          </a:prstGeom>
          <a:solidFill>
            <a:srgbClr val="15803D"/>
          </a:solidFill>
          <a:ln w="25400">
            <a:solidFill>
              <a:srgbClr val="15803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06324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2606040" y="28803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Ішкі аудит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394960" y="2194560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5B667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9496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4937760" y="28803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 (1-3 мектеп)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726680" y="2194560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5B667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2668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7269480" y="28803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Баға сынағы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10058400" y="2194560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5B667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05840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9601200" y="28803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Алғашқы келісім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931920"/>
          <a:ext cx="73152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Көрсеткіш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Күйі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Нақты пайдаланушылар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Жоқ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Табыс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Жоқ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Төленген клиент / шарт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Жоқ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Нарықты растау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Жүргізілмеген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ДӘЛЕЛ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Сенім сигналдары: тексерілетін фактілер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326880" y="64465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QazaqCode  |  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Пилотқа дейінгі өнім. Бизнес-сандар - гипотеза/толтырылмаған.</a:t>
            </a:r>
            <a:endParaRPr lang="en-US" sz="10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645920"/>
          <a:ext cx="64008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5"/>
          <p:cNvSpPr/>
          <p:nvPr/>
        </p:nvSpPr>
        <p:spPr>
          <a:xfrm>
            <a:off x="7315200" y="1645920"/>
            <a:ext cx="4297680" cy="960120"/>
          </a:xfrm>
          <a:prstGeom prst="roundRect">
            <a:avLst>
              <a:gd name="adj" fmla="val 7619"/>
            </a:avLst>
          </a:prstGeom>
          <a:solidFill>
            <a:srgbClr val="E0F2F6"/>
          </a:solidFill>
          <a:ln w="12700">
            <a:solidFill>
              <a:srgbClr val="E0F2F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452360" y="1645920"/>
            <a:ext cx="1463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~10 100</a:t>
            </a:r>
            <a:endParaRPr lang="en-US" sz="2800" dirty="0"/>
          </a:p>
        </p:txBody>
      </p:sp>
      <p:sp>
        <p:nvSpPr>
          <p:cNvPr id="11" name="Text 7"/>
          <p:cNvSpPr/>
          <p:nvPr/>
        </p:nvSpPr>
        <p:spPr>
          <a:xfrm>
            <a:off x="8915400" y="1645920"/>
            <a:ext cx="2651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жол TypeScript (src)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315200" y="2724912"/>
            <a:ext cx="4297680" cy="960120"/>
          </a:xfrm>
          <a:prstGeom prst="roundRect">
            <a:avLst>
              <a:gd name="adj" fmla="val 7619"/>
            </a:avLst>
          </a:prstGeom>
          <a:solidFill>
            <a:srgbClr val="E0F2F6"/>
          </a:solidFill>
          <a:ln w="12700">
            <a:solidFill>
              <a:srgbClr val="E0F2F6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452360" y="2724912"/>
            <a:ext cx="1463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800" dirty="0"/>
          </a:p>
        </p:txBody>
      </p:sp>
      <p:sp>
        <p:nvSpPr>
          <p:cNvPr id="14" name="Text 10"/>
          <p:cNvSpPr/>
          <p:nvPr/>
        </p:nvSpPr>
        <p:spPr>
          <a:xfrm>
            <a:off x="8915400" y="2724912"/>
            <a:ext cx="2651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миграция (PostgreSQL + RLS)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7315200" y="3803904"/>
            <a:ext cx="4297680" cy="960120"/>
          </a:xfrm>
          <a:prstGeom prst="roundRect">
            <a:avLst>
              <a:gd name="adj" fmla="val 7619"/>
            </a:avLst>
          </a:prstGeom>
          <a:solidFill>
            <a:srgbClr val="E0F2F6"/>
          </a:solidFill>
          <a:ln w="12700">
            <a:solidFill>
              <a:srgbClr val="E0F2F6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452360" y="3803904"/>
            <a:ext cx="1463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800" dirty="0"/>
          </a:p>
        </p:txBody>
      </p:sp>
      <p:sp>
        <p:nvSpPr>
          <p:cNvPr id="17" name="Text 13"/>
          <p:cNvSpPr/>
          <p:nvPr/>
        </p:nvSpPr>
        <p:spPr>
          <a:xfrm>
            <a:off x="8915400" y="3803904"/>
            <a:ext cx="2651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аудитте табылып түзетілген мәселе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7315200" y="4882896"/>
            <a:ext cx="4297680" cy="960120"/>
          </a:xfrm>
          <a:prstGeom prst="roundRect">
            <a:avLst>
              <a:gd name="adj" fmla="val 7619"/>
            </a:avLst>
          </a:prstGeom>
          <a:solidFill>
            <a:srgbClr val="E0F2F6"/>
          </a:solidFill>
          <a:ln w="12700">
            <a:solidFill>
              <a:srgbClr val="E0F2F6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452360" y="4882896"/>
            <a:ext cx="1463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800" dirty="0"/>
          </a:p>
        </p:txBody>
      </p:sp>
      <p:sp>
        <p:nvSpPr>
          <p:cNvPr id="20" name="Text 16"/>
          <p:cNvSpPr/>
          <p:nvPr/>
        </p:nvSpPr>
        <p:spPr>
          <a:xfrm>
            <a:off x="8915400" y="4882896"/>
            <a:ext cx="2651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құжат (репо мен лицензиялау)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Тәуелсіз пентест жоқ. Тесттің статикалық саны циклмен жасалған тесттерді бір рет есептейді.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DUE-DILIGENCE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Құжаттар мен деректер бөлмесі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326880" y="64465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QazaqCode  |  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Пилотқа дейінгі өнім. Бизнес-сандар - гипотеза/толтырылмаған.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858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Құжат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Мазмұны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INVESTOR.md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шынайы жағдай, тәуекелдер, жол картасы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ARCHITECTURE.md / SECURITY.md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сәулет және қауіпсіздік модельдері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SECURITY-AUDIT.md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ішкі аудит, тексерілмеген аймақтар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LEGAL-REVIEW.md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заңгерге сұрақтар (авторлық құқық, деректер)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AUTHORSHIP.md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авторлықты растау қадамдары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INVESTOR-FAQ.md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сұрақ пен ашық жауап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Деректер бөлмесі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FACTS, лицензия/SBOM, npm audit, тәуекелдер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48640" y="5669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Бір команда: node scripts/dataroom.mjs  -&gt;  out/dataroom/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ЖОЛ КАРТАСЫ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Жол картасы: тартылымға дейін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326880" y="64465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QazaqCode  |  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Пилотқа дейінгі өнім. Бизнес-сандар - гипотеза/толтырылмаған.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920240"/>
            <a:ext cx="2103120" cy="3291840"/>
          </a:xfrm>
          <a:prstGeom prst="roundRect">
            <a:avLst>
              <a:gd name="adj" fmla="val 3478"/>
            </a:avLst>
          </a:prstGeom>
          <a:solidFill>
            <a:srgbClr val="F4F6F8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202996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Сұрау воронкасы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2834640"/>
            <a:ext cx="17373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мектеп өтінімдері: нақты сан мен статус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788920" y="1920240"/>
            <a:ext cx="2103120" cy="3291840"/>
          </a:xfrm>
          <a:prstGeom prst="roundRect">
            <a:avLst>
              <a:gd name="adj" fmla="val 3478"/>
            </a:avLst>
          </a:prstGeom>
          <a:solidFill>
            <a:srgbClr val="F4F6F8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971800" y="202996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Пилот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2971800" y="2834640"/>
            <a:ext cx="17373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1-3 мектеп, 6-8 апта: белсенділік, тексеру уақыты, қателер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029200" y="1920240"/>
            <a:ext cx="2103120" cy="3291840"/>
          </a:xfrm>
          <a:prstGeom prst="roundRect">
            <a:avLst>
              <a:gd name="adj" fmla="val 3478"/>
            </a:avLst>
          </a:prstGeom>
          <a:solidFill>
            <a:srgbClr val="F4F6F8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212080" y="202996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Заң және қауіпсіздік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212080" y="2834640"/>
            <a:ext cx="17373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заңгер, тәуелсіз пентест, хостинг, backup жаттығуы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269480" y="1920240"/>
            <a:ext cx="2103120" cy="3291840"/>
          </a:xfrm>
          <a:prstGeom prst="roundRect">
            <a:avLst>
              <a:gd name="adj" fmla="val 3478"/>
            </a:avLst>
          </a:prstGeom>
          <a:solidFill>
            <a:srgbClr val="F4F6F8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52360" y="202996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Баға сынағы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452360" y="2834640"/>
            <a:ext cx="17373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 мектептермен төлеуге дайындық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9509760" y="1920240"/>
            <a:ext cx="2103120" cy="3291840"/>
          </a:xfrm>
          <a:prstGeom prst="roundRect">
            <a:avLst>
              <a:gd name="adj" fmla="val 3478"/>
            </a:avLst>
          </a:prstGeom>
          <a:solidFill>
            <a:srgbClr val="F4F6F8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692640" y="202996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Инвестиция әңгімесі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9692640" y="2834640"/>
            <a:ext cx="17373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нақты метрика мен кері байланыспен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48640" y="5577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Қадамдар жоспар: орындалмаған. Мерзім пилот серіктеске тәуелді.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БИЗНЕС-МОДЕЛЬ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Бизнес-модель (гипотеза)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326880" y="64465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QazaqCode  |  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Пилотқа дейінгі өнім. Бизнес-сандар - гипотеза/толтырылмаған.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645920"/>
            <a:ext cx="3840480" cy="347472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16459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ГИПОТЕЗА: пилотта тексеріледі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219456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F4F6F8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230428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Кім төлейді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31520" y="274320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Мектеп, колледж не IT академия жылдық лицензия төлейді. Оқушы төлемейді.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297680" y="219456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F4F6F8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480560" y="230428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Лицензия деңгейлері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480560" y="274320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STARTER: 100 оқушы / 5 мұғалім. PRO: 500 / 25. ENTERPRISE: келісім бойынша. Лимиттер өнімде жүзеге асқан.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046720" y="219456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FEF3F2"/>
          </a:solidFill>
          <a:ln w="12700">
            <a:solidFill>
              <a:srgbClr val="FDA29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0" y="230428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Баға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229600" y="274320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Белгіленбеген / толтырылмаған. Нарықтық дәлел жоқ; пилоттан кейін есептеледі.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48640" y="4754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Қаржылық модель шаблоны: docs/QazaqCode-financial-model.xlsx. Барлық болжам бос (гипотеза), формулалар тірі.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548640" y="5303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Төлем мен шот-фактура әлі жасалмаған: лицензияны қолмен береміз.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НАРЫҚҚА ШЫҒУ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Нарыққа шығу: пилот жоспары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326880" y="64465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QazaqCode  |  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Пилотқа дейінгі өнім. Бизнес-сандар - гипотеза/толтырылмаған.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73736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4F6F8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184708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Кімнен бастаймыз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31520" y="228600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 серіктестер: мектеп, колледж, IT академия. Арна: /schools бетіндегі өтінім формасы және әкімші воронкасы.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17920" y="173736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4F6F8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0" y="184708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өлшейміз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400800" y="228600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Белсенді оқушы үлесі, тапсырма орындау үлесі, мұғалімнің тексеру уақыты, қателер, пилоттан кейінгі төлеуге дайындық.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48640" y="402336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FEF3F2"/>
          </a:solidFill>
          <a:ln w="12700">
            <a:solidFill>
              <a:srgbClr val="FDA29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413308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Нарық көлемі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31520" y="457200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Белгісіз / зерттелмеген. Расталған дереккөзсіз сан келтірмейміз.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217920" y="402336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FEF3F2"/>
          </a:solidFill>
          <a:ln w="12700">
            <a:solidFill>
              <a:srgbClr val="FDA29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0" y="413308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Бәсекелестер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400800" y="457200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Зерттелмеген. Жүйелі талдау пилотқа дейінгі міндеттердің бірі.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ТӘУЕКЕЛДЕР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Негізгі тәуекелдер (ашық)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326880" y="64465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QazaqCode  | 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Пилотқа дейінгі өнім. Бизнес-сандар - гипотеза/толтырылмаған.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72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Тәуекел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Жағдайы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Тартылым жоқ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Пайдаланушы, табыс жоқ; гипотезалар тексерілмеген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Авторлық құқық мәртебесі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Код көбіне ИИ-ассистентпен жасалған; заңгер тексеруі керек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Бір адамға тәуелділік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Команда, қолдау, сату бір адамда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Дербес деректер заңы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Мектеп оқушылары, кәмелетсіздер; заңгер консультациясы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Қауіпсіздік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Тәуелсіз пентест жоқ; нақты Supabase сыналмаған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Нарық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Сатып алу тәртібі мен бәсекелестер зерттелмеген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Ашық репо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Коммерциялық код сатуға дейін жеке репоға көшірілуі тиіс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Команда: 1 негізін қалаушы + ИИ-ассистент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326880" y="64465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QazaqCode  |  13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Пилотқа дейінгі өнім. Бизнес-сандар - гипотеза/толтырылмаған.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737360"/>
            <a:ext cx="5394960" cy="2743200"/>
          </a:xfrm>
          <a:prstGeom prst="roundRect">
            <a:avLst>
              <a:gd name="adj" fmla="val 2667"/>
            </a:avLst>
          </a:prstGeom>
          <a:solidFill>
            <a:srgbClr val="F4F6F8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184708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Негізін қалаушы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31520" y="2286000"/>
            <a:ext cx="50292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Sagid Mustafa: идея, өнім құрылымы, талаптар, шешімдерді таңдау, нәтижелерді тексеру және қабылдау.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17920" y="1737360"/>
            <a:ext cx="5394960" cy="2743200"/>
          </a:xfrm>
          <a:prstGeom prst="roundRect">
            <a:avLst>
              <a:gd name="adj" fmla="val 2667"/>
            </a:avLst>
          </a:prstGeom>
          <a:solidFill>
            <a:srgbClr val="F4F6F8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0" y="184708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ИИ-ассистент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400800" y="2286000"/>
            <a:ext cx="50292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Код, тесттер, мәтіндер мен дизайнның көп бөлігін Claude (Anthropic) жасады. Бұл ашық жазылған және IP тәуекелі ретінде көрсетілген.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48640" y="475488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FEF3F2"/>
          </a:solidFill>
          <a:ln w="12700">
            <a:solidFill>
              <a:srgbClr val="FDA29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486460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Командадағы олқылық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31520" y="53035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Қолдау, сату, DevOps, заң бойынша адам жоқ.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ҚАДАМДАР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Қаражат категориялары және келесі қадамдар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326880" y="64465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QazaqCode  |  14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Пилотқа дейінгі өнім. Бизнес-сандар - гипотеза/толтырылмаған.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" y="1645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Қаражат категориялары (сомасыз, басымдық бойынша)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2103120"/>
            <a:ext cx="54864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Заңгерлік жұмыс: деректер, авторлық құқық, шарттар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Тәуелсіз қауіпсіздік шолуы және инфрақұрылым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Пилоттарды жүргізу, мектептерді оқыту, қолдау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 орындау ортасы (sandbox): тек шолудан кейін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Сату және серіктестік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0800" y="16459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Келесі қадамдар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00800" y="2103120"/>
            <a:ext cx="52120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 серіктес мектептермен байланыс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Заңгер консультациясы (IP, деректер)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Деректер бөлмесін өзіңіз тексеріңіз: FACTS, лицензия, тәуекел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Инвесторға: сұрақтар мен FAQ-ты талқылау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48640" y="5760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Бұл бет инвестициялық ұсыныс не кеңес емес. Сома, баға, нарық көлемі: толтырылмаған.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QazaqCode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QazaqCode Platform: инвестор питчі (пилотқа дейінгі сатыда)</dc:title>
  <dc:subject>PptxGenJS Presentation</dc:subject>
  <dc:creator>QazaqCode</dc:creator>
  <cp:lastModifiedBy>QazaqCode</cp:lastModifiedBy>
  <cp:revision>1</cp:revision>
  <dcterms:created xsi:type="dcterms:W3CDTF">2026-10-19T03:35:42Z</dcterms:created>
  <dcterms:modified xsi:type="dcterms:W3CDTF">2026-10-19T03:35:42Z</dcterms:modified>
</cp:coreProperties>
</file>